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599677B-5824-455F-AFE3-437F9106374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6A27814-2A29-4549-90E6-AC25B65E974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E7B3A6B-DB5A-4307-97A4-AD35353337D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468A4A6-7A8E-4F6C-BDC4-0E7D76EEFF5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A5082D8-9763-45EA-A7FD-2ADA82FC545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B1DA534-D4D4-451E-910D-6F3000F7B3A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FBE61BC-E409-4283-82BE-C3758B81CFE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CFD92D1-4233-4F3F-B62B-E6A32C795E9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05855E0-5992-4501-BAAB-2551C248E8E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AC47899-1F54-4A61-BD95-D31B08209ED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5F7D570-929A-4356-AE9E-FFD75721C6B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7452360" y="731520"/>
            <a:ext cx="8640" cy="530316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7982640" y="731520"/>
            <a:ext cx="8640" cy="530316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Rectangle 3"/>
          <p:cNvSpPr/>
          <p:nvPr/>
        </p:nvSpPr>
        <p:spPr>
          <a:xfrm>
            <a:off x="8512920" y="731520"/>
            <a:ext cx="8640" cy="530316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Rectangle 4"/>
          <p:cNvSpPr/>
          <p:nvPr/>
        </p:nvSpPr>
        <p:spPr>
          <a:xfrm>
            <a:off x="9043560" y="731520"/>
            <a:ext cx="8640" cy="530316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" name="Rectangle 5"/>
          <p:cNvSpPr/>
          <p:nvPr/>
        </p:nvSpPr>
        <p:spPr>
          <a:xfrm>
            <a:off x="9573840" y="731520"/>
            <a:ext cx="8640" cy="530316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Rectangle 6"/>
          <p:cNvSpPr/>
          <p:nvPr/>
        </p:nvSpPr>
        <p:spPr>
          <a:xfrm>
            <a:off x="10104120" y="731520"/>
            <a:ext cx="8640" cy="530316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Rectangle 7"/>
          <p:cNvSpPr/>
          <p:nvPr/>
        </p:nvSpPr>
        <p:spPr>
          <a:xfrm>
            <a:off x="10634400" y="731520"/>
            <a:ext cx="8640" cy="530316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Rectangle 8"/>
          <p:cNvSpPr/>
          <p:nvPr/>
        </p:nvSpPr>
        <p:spPr>
          <a:xfrm>
            <a:off x="11164680" y="731520"/>
            <a:ext cx="8640" cy="530316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Rectangle 9"/>
          <p:cNvSpPr/>
          <p:nvPr/>
        </p:nvSpPr>
        <p:spPr>
          <a:xfrm>
            <a:off x="7452360" y="731520"/>
            <a:ext cx="3885840" cy="864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Rectangle 10"/>
          <p:cNvSpPr/>
          <p:nvPr/>
        </p:nvSpPr>
        <p:spPr>
          <a:xfrm>
            <a:off x="7452360" y="1261800"/>
            <a:ext cx="3885840" cy="864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Rectangle 11"/>
          <p:cNvSpPr/>
          <p:nvPr/>
        </p:nvSpPr>
        <p:spPr>
          <a:xfrm>
            <a:off x="7452360" y="1792080"/>
            <a:ext cx="3885840" cy="864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Rectangle 12"/>
          <p:cNvSpPr/>
          <p:nvPr/>
        </p:nvSpPr>
        <p:spPr>
          <a:xfrm>
            <a:off x="7452360" y="2322720"/>
            <a:ext cx="3885840" cy="864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Rectangle 13"/>
          <p:cNvSpPr/>
          <p:nvPr/>
        </p:nvSpPr>
        <p:spPr>
          <a:xfrm>
            <a:off x="7452360" y="2853000"/>
            <a:ext cx="3885840" cy="864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Rectangle 14"/>
          <p:cNvSpPr/>
          <p:nvPr/>
        </p:nvSpPr>
        <p:spPr>
          <a:xfrm>
            <a:off x="7452360" y="3383280"/>
            <a:ext cx="3885840" cy="864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Rectangle 15"/>
          <p:cNvSpPr/>
          <p:nvPr/>
        </p:nvSpPr>
        <p:spPr>
          <a:xfrm>
            <a:off x="7452360" y="3913560"/>
            <a:ext cx="3885840" cy="864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Rectangle 16"/>
          <p:cNvSpPr/>
          <p:nvPr/>
        </p:nvSpPr>
        <p:spPr>
          <a:xfrm>
            <a:off x="7452360" y="4443840"/>
            <a:ext cx="3885840" cy="864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Rectangle 17"/>
          <p:cNvSpPr/>
          <p:nvPr/>
        </p:nvSpPr>
        <p:spPr>
          <a:xfrm>
            <a:off x="7452360" y="4974480"/>
            <a:ext cx="3885840" cy="864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Rectangle 18"/>
          <p:cNvSpPr/>
          <p:nvPr/>
        </p:nvSpPr>
        <p:spPr>
          <a:xfrm>
            <a:off x="7452360" y="5504760"/>
            <a:ext cx="3885840" cy="864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Rounded Rectangle 19"/>
          <p:cNvSpPr/>
          <p:nvPr/>
        </p:nvSpPr>
        <p:spPr>
          <a:xfrm>
            <a:off x="685800" y="658440"/>
            <a:ext cx="2971440" cy="3286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0160">
            <a:solidFill>
              <a:srgbClr val="1E293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20"/>
          <p:cNvSpPr/>
          <p:nvPr/>
        </p:nvSpPr>
        <p:spPr>
          <a:xfrm>
            <a:off x="685800" y="672120"/>
            <a:ext cx="2971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BFDBFE"/>
                </a:solidFill>
                <a:effectLst/>
                <a:uFillTx/>
                <a:latin typeface="Aptos"/>
              </a:rPr>
              <a:t>DEFENSE &amp; AEROSPACE  /  HACKATHON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21"/>
          <p:cNvSpPr/>
          <p:nvPr/>
        </p:nvSpPr>
        <p:spPr>
          <a:xfrm>
            <a:off x="685800" y="1353240"/>
            <a:ext cx="6309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SENTINEL-X</a:t>
            </a:r>
            <a:endParaRPr lang="en-GB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22"/>
          <p:cNvSpPr/>
          <p:nvPr/>
        </p:nvSpPr>
        <p:spPr>
          <a:xfrm>
            <a:off x="713160" y="2121480"/>
            <a:ext cx="65833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2500" b="0" u="none" strike="noStrike">
                <a:solidFill>
                  <a:srgbClr val="E2E8F0"/>
                </a:solidFill>
                <a:effectLst/>
                <a:uFillTx/>
                <a:latin typeface="Aptos"/>
              </a:rPr>
              <a:t>Threat Intelligence Correlation</a:t>
            </a:r>
            <a:endParaRPr lang="en-GB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500" b="0" u="none" strike="noStrike">
                <a:solidFill>
                  <a:srgbClr val="E2E8F0"/>
                </a:solidFill>
                <a:effectLst/>
                <a:uFillTx/>
                <a:latin typeface="Aptos"/>
              </a:rPr>
              <a:t>&amp; Alert Prioritisation Assistant</a:t>
            </a:r>
            <a:endParaRPr lang="en-GB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23"/>
          <p:cNvSpPr/>
          <p:nvPr/>
        </p:nvSpPr>
        <p:spPr>
          <a:xfrm>
            <a:off x="731520" y="3401640"/>
            <a:ext cx="6309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550" b="0" u="none" strike="noStrike">
                <a:solidFill>
                  <a:srgbClr val="94A3B8"/>
                </a:solidFill>
                <a:effectLst/>
                <a:uFillTx/>
                <a:latin typeface="Aptos"/>
              </a:rPr>
              <a:t>Turning heterogeneous telemetry into correlated,</a:t>
            </a:r>
            <a:endParaRPr lang="en-GB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50" b="0" u="none" strike="noStrike">
                <a:solidFill>
                  <a:srgbClr val="94A3B8"/>
                </a:solidFill>
                <a:effectLst/>
                <a:uFillTx/>
                <a:latin typeface="Aptos"/>
              </a:rPr>
              <a:t>explainable and actionable security intelligence.</a:t>
            </a:r>
            <a:endParaRPr lang="en-GB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24"/>
          <p:cNvSpPr/>
          <p:nvPr/>
        </p:nvSpPr>
        <p:spPr>
          <a:xfrm>
            <a:off x="731520" y="4736520"/>
            <a:ext cx="27428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93C5FD"/>
                </a:solidFill>
                <a:effectLst/>
                <a:uFillTx/>
                <a:latin typeface="Aptos"/>
              </a:rPr>
              <a:t>TEAM: Pretzel</a:t>
            </a:r>
            <a:endParaRPr lang="en-GB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25"/>
          <p:cNvSpPr/>
          <p:nvPr/>
        </p:nvSpPr>
        <p:spPr>
          <a:xfrm>
            <a:off x="731520" y="5102280"/>
            <a:ext cx="34743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93C5FD"/>
                </a:solidFill>
                <a:effectLst/>
                <a:uFillTx/>
                <a:latin typeface="Aptos"/>
              </a:rPr>
              <a:t>TRACK: AI | DEFENSE &amp; AEROSPACE</a:t>
            </a:r>
            <a:endParaRPr lang="en-GB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Rounded Rectangle 26"/>
          <p:cNvSpPr/>
          <p:nvPr/>
        </p:nvSpPr>
        <p:spPr>
          <a:xfrm>
            <a:off x="7818120" y="1828800"/>
            <a:ext cx="914040" cy="3286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0160">
            <a:solidFill>
              <a:srgbClr val="1E293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Box 27"/>
          <p:cNvSpPr/>
          <p:nvPr/>
        </p:nvSpPr>
        <p:spPr>
          <a:xfrm>
            <a:off x="7818120" y="184248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BFDBFE"/>
                </a:solidFill>
                <a:effectLst/>
                <a:uFillTx/>
                <a:latin typeface="Aptos"/>
              </a:rPr>
              <a:t>SIEM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28"/>
          <p:cNvSpPr/>
          <p:nvPr/>
        </p:nvSpPr>
        <p:spPr>
          <a:xfrm>
            <a:off x="8915400" y="1828800"/>
            <a:ext cx="1005480" cy="3286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0160">
            <a:solidFill>
              <a:srgbClr val="1E293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29"/>
          <p:cNvSpPr/>
          <p:nvPr/>
        </p:nvSpPr>
        <p:spPr>
          <a:xfrm>
            <a:off x="8915400" y="1842480"/>
            <a:ext cx="1005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C4B5FD"/>
                </a:solidFill>
                <a:effectLst/>
                <a:uFillTx/>
                <a:latin typeface="Aptos"/>
              </a:rPr>
              <a:t>SPACE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Rounded Rectangle 30"/>
          <p:cNvSpPr/>
          <p:nvPr/>
        </p:nvSpPr>
        <p:spPr>
          <a:xfrm>
            <a:off x="10104120" y="1828800"/>
            <a:ext cx="1005480" cy="3286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0160">
            <a:solidFill>
              <a:srgbClr val="1E293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31"/>
          <p:cNvSpPr/>
          <p:nvPr/>
        </p:nvSpPr>
        <p:spPr>
          <a:xfrm>
            <a:off x="10104120" y="1842480"/>
            <a:ext cx="1005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A7F3D0"/>
                </a:solidFill>
                <a:effectLst/>
                <a:uFillTx/>
                <a:latin typeface="Aptos"/>
              </a:rPr>
              <a:t>SENSORS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32"/>
          <p:cNvSpPr/>
          <p:nvPr/>
        </p:nvSpPr>
        <p:spPr>
          <a:xfrm>
            <a:off x="9601200" y="233172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60A5FA"/>
                </a:solidFill>
                <a:effectLst/>
                <a:uFillTx/>
                <a:latin typeface="Aptos"/>
              </a:rPr>
              <a:t>↓</a:t>
            </a:r>
            <a:endParaRPr lang="en-GB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33"/>
          <p:cNvSpPr/>
          <p:nvPr/>
        </p:nvSpPr>
        <p:spPr>
          <a:xfrm>
            <a:off x="8321040" y="2697480"/>
            <a:ext cx="2377080" cy="3286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0160">
            <a:solidFill>
              <a:srgbClr val="1E293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34"/>
          <p:cNvSpPr/>
          <p:nvPr/>
        </p:nvSpPr>
        <p:spPr>
          <a:xfrm>
            <a:off x="8321040" y="2711160"/>
            <a:ext cx="2377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BFDBFE"/>
                </a:solidFill>
                <a:effectLst/>
                <a:uFillTx/>
                <a:latin typeface="Aptos"/>
              </a:rPr>
              <a:t>CORRELATION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35"/>
          <p:cNvSpPr/>
          <p:nvPr/>
        </p:nvSpPr>
        <p:spPr>
          <a:xfrm>
            <a:off x="9326880" y="318204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60A5FA"/>
                </a:solidFill>
                <a:effectLst/>
                <a:uFillTx/>
                <a:latin typeface="Aptos"/>
              </a:rPr>
              <a:t>↓</a:t>
            </a:r>
            <a:endParaRPr lang="en-GB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Rounded Rectangle 36"/>
          <p:cNvSpPr/>
          <p:nvPr/>
        </p:nvSpPr>
        <p:spPr>
          <a:xfrm>
            <a:off x="8183880" y="3547800"/>
            <a:ext cx="2651400" cy="3286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0160">
            <a:solidFill>
              <a:srgbClr val="1E293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Box 37"/>
          <p:cNvSpPr/>
          <p:nvPr/>
        </p:nvSpPr>
        <p:spPr>
          <a:xfrm>
            <a:off x="8183880" y="3561480"/>
            <a:ext cx="2651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DBA74"/>
                </a:solidFill>
                <a:effectLst/>
                <a:uFillTx/>
                <a:latin typeface="Aptos"/>
              </a:rPr>
              <a:t>MITRE + PRIORITY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1"/>
          <p:cNvSpPr/>
          <p:nvPr/>
        </p:nvSpPr>
        <p:spPr>
          <a:xfrm>
            <a:off x="594360" y="39312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02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2"/>
          <p:cNvSpPr/>
          <p:nvPr/>
        </p:nvSpPr>
        <p:spPr>
          <a:xfrm>
            <a:off x="1051560" y="320040"/>
            <a:ext cx="9875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90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Problem</a:t>
            </a:r>
            <a:endParaRPr lang="en-GB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3"/>
          <p:cNvSpPr/>
          <p:nvPr/>
        </p:nvSpPr>
        <p:spPr>
          <a:xfrm>
            <a:off x="1069920" y="86868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What problem are SOC and defense analysts facing?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ectangle 4"/>
          <p:cNvSpPr/>
          <p:nvPr/>
        </p:nvSpPr>
        <p:spPr>
          <a:xfrm>
            <a:off x="594360" y="1234440"/>
            <a:ext cx="10972440" cy="10440"/>
          </a:xfrm>
          <a:prstGeom prst="rect">
            <a:avLst/>
          </a:prstGeom>
          <a:solidFill>
            <a:srgbClr val="E0E0E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Rounded Rectangle 5"/>
          <p:cNvSpPr/>
          <p:nvPr/>
        </p:nvSpPr>
        <p:spPr>
          <a:xfrm>
            <a:off x="685800" y="1600200"/>
            <a:ext cx="3428640" cy="2148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E0E0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Rectangle 6"/>
          <p:cNvSpPr/>
          <p:nvPr/>
        </p:nvSpPr>
        <p:spPr>
          <a:xfrm>
            <a:off x="685800" y="1600200"/>
            <a:ext cx="50040" cy="21484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7"/>
          <p:cNvSpPr/>
          <p:nvPr/>
        </p:nvSpPr>
        <p:spPr>
          <a:xfrm>
            <a:off x="887040" y="1764720"/>
            <a:ext cx="3062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Heterogeneous telemetry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8"/>
          <p:cNvSpPr/>
          <p:nvPr/>
        </p:nvSpPr>
        <p:spPr>
          <a:xfrm>
            <a:off x="887040" y="2203560"/>
            <a:ext cx="3062880" cy="13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SIEM, endpoint/network sensors and space telemetry use different formats and describe different operational contexts.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ounded Rectangle 9"/>
          <p:cNvSpPr/>
          <p:nvPr/>
        </p:nvSpPr>
        <p:spPr>
          <a:xfrm>
            <a:off x="4370760" y="1600200"/>
            <a:ext cx="3428640" cy="2148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E0E0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Rectangle 10"/>
          <p:cNvSpPr/>
          <p:nvPr/>
        </p:nvSpPr>
        <p:spPr>
          <a:xfrm>
            <a:off x="4370760" y="1600200"/>
            <a:ext cx="50040" cy="214848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11"/>
          <p:cNvSpPr/>
          <p:nvPr/>
        </p:nvSpPr>
        <p:spPr>
          <a:xfrm>
            <a:off x="4572000" y="1764720"/>
            <a:ext cx="3062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Alert overload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12"/>
          <p:cNvSpPr/>
          <p:nvPr/>
        </p:nvSpPr>
        <p:spPr>
          <a:xfrm>
            <a:off x="4572000" y="2203560"/>
            <a:ext cx="3062880" cy="13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Large event streams create many isolated detections. Analysts spend time deciding what is actually related.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ounded Rectangle 13"/>
          <p:cNvSpPr/>
          <p:nvPr/>
        </p:nvSpPr>
        <p:spPr>
          <a:xfrm>
            <a:off x="8055720" y="1600200"/>
            <a:ext cx="3428640" cy="2148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E0E0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Rectangle 14"/>
          <p:cNvSpPr/>
          <p:nvPr/>
        </p:nvSpPr>
        <p:spPr>
          <a:xfrm>
            <a:off x="8055720" y="1600200"/>
            <a:ext cx="50040" cy="214848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15"/>
          <p:cNvSpPr/>
          <p:nvPr/>
        </p:nvSpPr>
        <p:spPr>
          <a:xfrm>
            <a:off x="8256960" y="1764720"/>
            <a:ext cx="3062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Context &amp; prioritisation gap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16"/>
          <p:cNvSpPr/>
          <p:nvPr/>
        </p:nvSpPr>
        <p:spPr>
          <a:xfrm>
            <a:off x="8256960" y="2203560"/>
            <a:ext cx="3062880" cy="13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An alert needs behavior context, threat intelligence and an explainable reason for its priority.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ounded Rectangle 17"/>
          <p:cNvSpPr/>
          <p:nvPr/>
        </p:nvSpPr>
        <p:spPr>
          <a:xfrm>
            <a:off x="685800" y="4160520"/>
            <a:ext cx="10798560" cy="114264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0160">
            <a:solidFill>
              <a:srgbClr val="BFDB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18"/>
          <p:cNvSpPr/>
          <p:nvPr/>
        </p:nvSpPr>
        <p:spPr>
          <a:xfrm>
            <a:off x="914400" y="4389120"/>
            <a:ext cx="2057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WHO HAS THIS PROBLEM?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19"/>
          <p:cNvSpPr/>
          <p:nvPr/>
        </p:nvSpPr>
        <p:spPr>
          <a:xfrm>
            <a:off x="2880360" y="4316040"/>
            <a:ext cx="8092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SOC analysts and security teams handling high-volume, multi-source telemetry.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20"/>
          <p:cNvSpPr/>
          <p:nvPr/>
        </p:nvSpPr>
        <p:spPr>
          <a:xfrm>
            <a:off x="914400" y="489204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A580C"/>
                </a:solidFill>
                <a:effectLst/>
                <a:uFillTx/>
                <a:latin typeface="Aptos"/>
              </a:rPr>
              <a:t>WHY IT MATTERS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21"/>
          <p:cNvSpPr/>
          <p:nvPr/>
        </p:nvSpPr>
        <p:spPr>
          <a:xfrm>
            <a:off x="2423160" y="4837320"/>
            <a:ext cx="8412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Faster correlation and clearer prioritisation can reduce manual triage and surface the threats that matter.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22"/>
          <p:cNvSpPr/>
          <p:nvPr/>
        </p:nvSpPr>
        <p:spPr>
          <a:xfrm>
            <a:off x="10287000" y="6473880"/>
            <a:ext cx="1188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SENTINEL-X  /  2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Box 1"/>
          <p:cNvSpPr/>
          <p:nvPr/>
        </p:nvSpPr>
        <p:spPr>
          <a:xfrm>
            <a:off x="594360" y="39312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03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2"/>
          <p:cNvSpPr/>
          <p:nvPr/>
        </p:nvSpPr>
        <p:spPr>
          <a:xfrm>
            <a:off x="1051560" y="320040"/>
            <a:ext cx="9875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90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Solution</a:t>
            </a:r>
            <a:endParaRPr lang="en-GB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3"/>
          <p:cNvSpPr/>
          <p:nvPr/>
        </p:nvSpPr>
        <p:spPr>
          <a:xfrm>
            <a:off x="1069920" y="86868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One clear pipeline: events become evidence, evidence becomes action.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ectangle 4"/>
          <p:cNvSpPr/>
          <p:nvPr/>
        </p:nvSpPr>
        <p:spPr>
          <a:xfrm>
            <a:off x="594360" y="1234440"/>
            <a:ext cx="10972440" cy="10440"/>
          </a:xfrm>
          <a:prstGeom prst="rect">
            <a:avLst/>
          </a:prstGeom>
          <a:solidFill>
            <a:srgbClr val="E0E0E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Rounded Rectangle 5"/>
          <p:cNvSpPr/>
          <p:nvPr/>
        </p:nvSpPr>
        <p:spPr>
          <a:xfrm>
            <a:off x="567000" y="1874520"/>
            <a:ext cx="1691280" cy="2194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E0E0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Rectangle 6"/>
          <p:cNvSpPr/>
          <p:nvPr/>
        </p:nvSpPr>
        <p:spPr>
          <a:xfrm>
            <a:off x="567000" y="1874520"/>
            <a:ext cx="50040" cy="21942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7"/>
          <p:cNvSpPr/>
          <p:nvPr/>
        </p:nvSpPr>
        <p:spPr>
          <a:xfrm>
            <a:off x="768240" y="2039040"/>
            <a:ext cx="1325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DATA SOURCES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8"/>
          <p:cNvSpPr/>
          <p:nvPr/>
        </p:nvSpPr>
        <p:spPr>
          <a:xfrm>
            <a:off x="768240" y="2477880"/>
            <a:ext cx="132552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SIEM • Space • Sensors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9"/>
          <p:cNvSpPr/>
          <p:nvPr/>
        </p:nvSpPr>
        <p:spPr>
          <a:xfrm>
            <a:off x="2277000" y="2724840"/>
            <a:ext cx="20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→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ounded Rectangle 10"/>
          <p:cNvSpPr/>
          <p:nvPr/>
        </p:nvSpPr>
        <p:spPr>
          <a:xfrm>
            <a:off x="2468880" y="1874520"/>
            <a:ext cx="1691280" cy="2194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E0E0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Rectangle 11"/>
          <p:cNvSpPr/>
          <p:nvPr/>
        </p:nvSpPr>
        <p:spPr>
          <a:xfrm>
            <a:off x="2468880" y="1874520"/>
            <a:ext cx="50040" cy="21942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12"/>
          <p:cNvSpPr/>
          <p:nvPr/>
        </p:nvSpPr>
        <p:spPr>
          <a:xfrm>
            <a:off x="2670120" y="2039040"/>
            <a:ext cx="1325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NORMALIZE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13"/>
          <p:cNvSpPr/>
          <p:nvPr/>
        </p:nvSpPr>
        <p:spPr>
          <a:xfrm>
            <a:off x="2670120" y="2477880"/>
            <a:ext cx="132552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Common event representation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14"/>
          <p:cNvSpPr/>
          <p:nvPr/>
        </p:nvSpPr>
        <p:spPr>
          <a:xfrm>
            <a:off x="4178880" y="2724840"/>
            <a:ext cx="20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→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Rounded Rectangle 15"/>
          <p:cNvSpPr/>
          <p:nvPr/>
        </p:nvSpPr>
        <p:spPr>
          <a:xfrm>
            <a:off x="4370760" y="1874520"/>
            <a:ext cx="1691280" cy="2194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E0E0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Rectangle 16"/>
          <p:cNvSpPr/>
          <p:nvPr/>
        </p:nvSpPr>
        <p:spPr>
          <a:xfrm>
            <a:off x="4370760" y="1874520"/>
            <a:ext cx="50040" cy="21942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Box 17"/>
          <p:cNvSpPr/>
          <p:nvPr/>
        </p:nvSpPr>
        <p:spPr>
          <a:xfrm>
            <a:off x="4572000" y="2039040"/>
            <a:ext cx="1325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CORRELATE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18"/>
          <p:cNvSpPr/>
          <p:nvPr/>
        </p:nvSpPr>
        <p:spPr>
          <a:xfrm>
            <a:off x="4572000" y="2477880"/>
            <a:ext cx="132552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Behavior + time + asset + source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19"/>
          <p:cNvSpPr/>
          <p:nvPr/>
        </p:nvSpPr>
        <p:spPr>
          <a:xfrm>
            <a:off x="6080760" y="2724840"/>
            <a:ext cx="20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→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ounded Rectangle 20"/>
          <p:cNvSpPr/>
          <p:nvPr/>
        </p:nvSpPr>
        <p:spPr>
          <a:xfrm>
            <a:off x="6272640" y="1874520"/>
            <a:ext cx="1691280" cy="2194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E0E0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Rectangle 21"/>
          <p:cNvSpPr/>
          <p:nvPr/>
        </p:nvSpPr>
        <p:spPr>
          <a:xfrm>
            <a:off x="6272640" y="1874520"/>
            <a:ext cx="50040" cy="21942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TextBox 22"/>
          <p:cNvSpPr/>
          <p:nvPr/>
        </p:nvSpPr>
        <p:spPr>
          <a:xfrm>
            <a:off x="6473880" y="2039040"/>
            <a:ext cx="1325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ENRICH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23"/>
          <p:cNvSpPr/>
          <p:nvPr/>
        </p:nvSpPr>
        <p:spPr>
          <a:xfrm>
            <a:off x="6473880" y="2477880"/>
            <a:ext cx="132552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MITRE ATT&amp;CK + CISA KEV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24"/>
          <p:cNvSpPr/>
          <p:nvPr/>
        </p:nvSpPr>
        <p:spPr>
          <a:xfrm>
            <a:off x="7982640" y="2724840"/>
            <a:ext cx="20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→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Rounded Rectangle 25"/>
          <p:cNvSpPr/>
          <p:nvPr/>
        </p:nvSpPr>
        <p:spPr>
          <a:xfrm>
            <a:off x="8174880" y="1874520"/>
            <a:ext cx="1691280" cy="2194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E0E0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Rectangle 26"/>
          <p:cNvSpPr/>
          <p:nvPr/>
        </p:nvSpPr>
        <p:spPr>
          <a:xfrm>
            <a:off x="8174880" y="1874520"/>
            <a:ext cx="50040" cy="21942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27"/>
          <p:cNvSpPr/>
          <p:nvPr/>
        </p:nvSpPr>
        <p:spPr>
          <a:xfrm>
            <a:off x="8375760" y="2039040"/>
            <a:ext cx="1325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PRIORITIZE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28"/>
          <p:cNvSpPr/>
          <p:nvPr/>
        </p:nvSpPr>
        <p:spPr>
          <a:xfrm>
            <a:off x="8375760" y="2477880"/>
            <a:ext cx="132552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Explainable Sentinel-X policy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29"/>
          <p:cNvSpPr/>
          <p:nvPr/>
        </p:nvSpPr>
        <p:spPr>
          <a:xfrm>
            <a:off x="9884520" y="2724840"/>
            <a:ext cx="20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→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Rounded Rectangle 30"/>
          <p:cNvSpPr/>
          <p:nvPr/>
        </p:nvSpPr>
        <p:spPr>
          <a:xfrm>
            <a:off x="10076760" y="1874520"/>
            <a:ext cx="1691280" cy="2194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E0E0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Rectangle 31"/>
          <p:cNvSpPr/>
          <p:nvPr/>
        </p:nvSpPr>
        <p:spPr>
          <a:xfrm>
            <a:off x="10076760" y="1874520"/>
            <a:ext cx="50040" cy="219420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Box 32"/>
          <p:cNvSpPr/>
          <p:nvPr/>
        </p:nvSpPr>
        <p:spPr>
          <a:xfrm>
            <a:off x="10278000" y="2039040"/>
            <a:ext cx="1325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ACT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33"/>
          <p:cNvSpPr/>
          <p:nvPr/>
        </p:nvSpPr>
        <p:spPr>
          <a:xfrm>
            <a:off x="10278000" y="2477880"/>
            <a:ext cx="132552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Alert • Incident • Analyst action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ounded Rectangle 34"/>
          <p:cNvSpPr/>
          <p:nvPr/>
        </p:nvSpPr>
        <p:spPr>
          <a:xfrm>
            <a:off x="1051560" y="4709160"/>
            <a:ext cx="10058040" cy="868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E0E0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35"/>
          <p:cNvSpPr/>
          <p:nvPr/>
        </p:nvSpPr>
        <p:spPr>
          <a:xfrm>
            <a:off x="1325880" y="4928760"/>
            <a:ext cx="1051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KEY IDEA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36"/>
          <p:cNvSpPr/>
          <p:nvPr/>
        </p:nvSpPr>
        <p:spPr>
          <a:xfrm>
            <a:off x="2514600" y="487368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Events are not automatically alerts. Correlation creates the context needed for an explainable priority.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37"/>
          <p:cNvSpPr/>
          <p:nvPr/>
        </p:nvSpPr>
        <p:spPr>
          <a:xfrm>
            <a:off x="10287000" y="6473880"/>
            <a:ext cx="1188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SENTINEL-X  /  3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Box 1"/>
          <p:cNvSpPr/>
          <p:nvPr/>
        </p:nvSpPr>
        <p:spPr>
          <a:xfrm>
            <a:off x="594360" y="39312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04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2"/>
          <p:cNvSpPr/>
          <p:nvPr/>
        </p:nvSpPr>
        <p:spPr>
          <a:xfrm>
            <a:off x="1051560" y="320040"/>
            <a:ext cx="9875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90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Architecture</a:t>
            </a:r>
            <a:endParaRPr lang="en-GB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3"/>
          <p:cNvSpPr/>
          <p:nvPr/>
        </p:nvSpPr>
        <p:spPr>
          <a:xfrm>
            <a:off x="1069920" y="86868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A lightweight, testable real-time MVP architecture.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ectangle 4"/>
          <p:cNvSpPr/>
          <p:nvPr/>
        </p:nvSpPr>
        <p:spPr>
          <a:xfrm>
            <a:off x="594360" y="1234440"/>
            <a:ext cx="10972440" cy="10440"/>
          </a:xfrm>
          <a:prstGeom prst="rect">
            <a:avLst/>
          </a:prstGeom>
          <a:solidFill>
            <a:srgbClr val="E0E0E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Rounded Rectangle 5"/>
          <p:cNvSpPr/>
          <p:nvPr/>
        </p:nvSpPr>
        <p:spPr>
          <a:xfrm>
            <a:off x="658440" y="1417320"/>
            <a:ext cx="557748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E0E0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Rounded Rectangle 6"/>
          <p:cNvSpPr/>
          <p:nvPr/>
        </p:nvSpPr>
        <p:spPr>
          <a:xfrm>
            <a:off x="822960" y="1591200"/>
            <a:ext cx="438480" cy="32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7"/>
          <p:cNvSpPr/>
          <p:nvPr/>
        </p:nvSpPr>
        <p:spPr>
          <a:xfrm>
            <a:off x="822960" y="1604880"/>
            <a:ext cx="438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01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8"/>
          <p:cNvSpPr/>
          <p:nvPr/>
        </p:nvSpPr>
        <p:spPr>
          <a:xfrm>
            <a:off x="1481400" y="1536120"/>
            <a:ext cx="2057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INGEST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9"/>
          <p:cNvSpPr/>
          <p:nvPr/>
        </p:nvSpPr>
        <p:spPr>
          <a:xfrm>
            <a:off x="3383280" y="1545480"/>
            <a:ext cx="2514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Simulator / incoming telemetry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Rounded Rectangle 10"/>
          <p:cNvSpPr/>
          <p:nvPr/>
        </p:nvSpPr>
        <p:spPr>
          <a:xfrm>
            <a:off x="658440" y="2167200"/>
            <a:ext cx="557748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E0E0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Rounded Rectangle 11"/>
          <p:cNvSpPr/>
          <p:nvPr/>
        </p:nvSpPr>
        <p:spPr>
          <a:xfrm>
            <a:off x="822960" y="2340720"/>
            <a:ext cx="438480" cy="32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TextBox 12"/>
          <p:cNvSpPr/>
          <p:nvPr/>
        </p:nvSpPr>
        <p:spPr>
          <a:xfrm>
            <a:off x="822960" y="2354760"/>
            <a:ext cx="438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7C3AED"/>
                </a:solidFill>
                <a:effectLst/>
                <a:uFillTx/>
                <a:latin typeface="Aptos"/>
              </a:rPr>
              <a:t>02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13"/>
          <p:cNvSpPr/>
          <p:nvPr/>
        </p:nvSpPr>
        <p:spPr>
          <a:xfrm>
            <a:off x="1481400" y="2286000"/>
            <a:ext cx="2057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NORMALIZE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14"/>
          <p:cNvSpPr/>
          <p:nvPr/>
        </p:nvSpPr>
        <p:spPr>
          <a:xfrm>
            <a:off x="3383280" y="2295000"/>
            <a:ext cx="2514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Raw event → canonical event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Rounded Rectangle 15"/>
          <p:cNvSpPr/>
          <p:nvPr/>
        </p:nvSpPr>
        <p:spPr>
          <a:xfrm>
            <a:off x="658440" y="2917080"/>
            <a:ext cx="557748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E0E0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Rounded Rectangle 16"/>
          <p:cNvSpPr/>
          <p:nvPr/>
        </p:nvSpPr>
        <p:spPr>
          <a:xfrm>
            <a:off x="822960" y="3090600"/>
            <a:ext cx="438480" cy="32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TextBox 17"/>
          <p:cNvSpPr/>
          <p:nvPr/>
        </p:nvSpPr>
        <p:spPr>
          <a:xfrm>
            <a:off x="822960" y="3104280"/>
            <a:ext cx="438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03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18"/>
          <p:cNvSpPr/>
          <p:nvPr/>
        </p:nvSpPr>
        <p:spPr>
          <a:xfrm>
            <a:off x="1481400" y="3035880"/>
            <a:ext cx="2057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DETECT + CORRELATE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19"/>
          <p:cNvSpPr/>
          <p:nvPr/>
        </p:nvSpPr>
        <p:spPr>
          <a:xfrm>
            <a:off x="3383280" y="3044880"/>
            <a:ext cx="2514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Behavioral &amp; temporal relationships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Rounded Rectangle 20"/>
          <p:cNvSpPr/>
          <p:nvPr/>
        </p:nvSpPr>
        <p:spPr>
          <a:xfrm>
            <a:off x="658440" y="3666600"/>
            <a:ext cx="557748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E0E0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Rounded Rectangle 21"/>
          <p:cNvSpPr/>
          <p:nvPr/>
        </p:nvSpPr>
        <p:spPr>
          <a:xfrm>
            <a:off x="822960" y="3840480"/>
            <a:ext cx="438480" cy="32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22"/>
          <p:cNvSpPr/>
          <p:nvPr/>
        </p:nvSpPr>
        <p:spPr>
          <a:xfrm>
            <a:off x="822960" y="3854160"/>
            <a:ext cx="438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6A34A"/>
                </a:solidFill>
                <a:effectLst/>
                <a:uFillTx/>
                <a:latin typeface="Aptos"/>
              </a:rPr>
              <a:t>04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23"/>
          <p:cNvSpPr/>
          <p:nvPr/>
        </p:nvSpPr>
        <p:spPr>
          <a:xfrm>
            <a:off x="1481400" y="3785760"/>
            <a:ext cx="2057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ENRICH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24"/>
          <p:cNvSpPr/>
          <p:nvPr/>
        </p:nvSpPr>
        <p:spPr>
          <a:xfrm>
            <a:off x="3383280" y="3794760"/>
            <a:ext cx="2514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MITRE ATT&amp;CK + CISA KEV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Rounded Rectangle 25"/>
          <p:cNvSpPr/>
          <p:nvPr/>
        </p:nvSpPr>
        <p:spPr>
          <a:xfrm>
            <a:off x="658440" y="4416480"/>
            <a:ext cx="557748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E0E0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Rounded Rectangle 26"/>
          <p:cNvSpPr/>
          <p:nvPr/>
        </p:nvSpPr>
        <p:spPr>
          <a:xfrm>
            <a:off x="822960" y="4590360"/>
            <a:ext cx="438480" cy="32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TextBox 27"/>
          <p:cNvSpPr/>
          <p:nvPr/>
        </p:nvSpPr>
        <p:spPr>
          <a:xfrm>
            <a:off x="822960" y="4604040"/>
            <a:ext cx="438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A580C"/>
                </a:solidFill>
                <a:effectLst/>
                <a:uFillTx/>
                <a:latin typeface="Aptos"/>
              </a:rPr>
              <a:t>05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28"/>
          <p:cNvSpPr/>
          <p:nvPr/>
        </p:nvSpPr>
        <p:spPr>
          <a:xfrm>
            <a:off x="1481400" y="4535280"/>
            <a:ext cx="2057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PRIORITIZE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29"/>
          <p:cNvSpPr/>
          <p:nvPr/>
        </p:nvSpPr>
        <p:spPr>
          <a:xfrm>
            <a:off x="3383280" y="4544640"/>
            <a:ext cx="2514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Configurable Sentinel-X policy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Rounded Rectangle 30"/>
          <p:cNvSpPr/>
          <p:nvPr/>
        </p:nvSpPr>
        <p:spPr>
          <a:xfrm>
            <a:off x="658440" y="5166360"/>
            <a:ext cx="557748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E0E0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Rounded Rectangle 31"/>
          <p:cNvSpPr/>
          <p:nvPr/>
        </p:nvSpPr>
        <p:spPr>
          <a:xfrm>
            <a:off x="822960" y="5340240"/>
            <a:ext cx="438480" cy="32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TextBox 32"/>
          <p:cNvSpPr/>
          <p:nvPr/>
        </p:nvSpPr>
        <p:spPr>
          <a:xfrm>
            <a:off x="822960" y="5353920"/>
            <a:ext cx="438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DC2626"/>
                </a:solidFill>
                <a:effectLst/>
                <a:uFillTx/>
                <a:latin typeface="Aptos"/>
              </a:rPr>
              <a:t>06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33"/>
          <p:cNvSpPr/>
          <p:nvPr/>
        </p:nvSpPr>
        <p:spPr>
          <a:xfrm>
            <a:off x="1481400" y="5285160"/>
            <a:ext cx="2057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SERVE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34"/>
          <p:cNvSpPr/>
          <p:nvPr/>
        </p:nvSpPr>
        <p:spPr>
          <a:xfrm>
            <a:off x="3383280" y="5294520"/>
            <a:ext cx="2514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Alert / incident state → UI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Rounded Rectangle 35"/>
          <p:cNvSpPr/>
          <p:nvPr/>
        </p:nvSpPr>
        <p:spPr>
          <a:xfrm>
            <a:off x="6583680" y="1444680"/>
            <a:ext cx="4800240" cy="1279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E0E0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Rectangle 36"/>
          <p:cNvSpPr/>
          <p:nvPr/>
        </p:nvSpPr>
        <p:spPr>
          <a:xfrm>
            <a:off x="6583680" y="1444680"/>
            <a:ext cx="50040" cy="12798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TextBox 37"/>
          <p:cNvSpPr/>
          <p:nvPr/>
        </p:nvSpPr>
        <p:spPr>
          <a:xfrm>
            <a:off x="6784920" y="1609200"/>
            <a:ext cx="4434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Canonical event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38"/>
          <p:cNvSpPr/>
          <p:nvPr/>
        </p:nvSpPr>
        <p:spPr>
          <a:xfrm>
            <a:off x="6784920" y="2048400"/>
            <a:ext cx="44344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event_id • timestamp • source • event_type • asset • severity • raw/normalized event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Rounded Rectangle 39"/>
          <p:cNvSpPr/>
          <p:nvPr/>
        </p:nvSpPr>
        <p:spPr>
          <a:xfrm>
            <a:off x="6583680" y="2971800"/>
            <a:ext cx="4800240" cy="1279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E0E0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Rectangle 40"/>
          <p:cNvSpPr/>
          <p:nvPr/>
        </p:nvSpPr>
        <p:spPr>
          <a:xfrm>
            <a:off x="6583680" y="2971800"/>
            <a:ext cx="50040" cy="12798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TextBox 41"/>
          <p:cNvSpPr/>
          <p:nvPr/>
        </p:nvSpPr>
        <p:spPr>
          <a:xfrm>
            <a:off x="6784920" y="3136320"/>
            <a:ext cx="4434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Correlation signals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42"/>
          <p:cNvSpPr/>
          <p:nvPr/>
        </p:nvSpPr>
        <p:spPr>
          <a:xfrm>
            <a:off x="6784920" y="3575160"/>
            <a:ext cx="44344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Same asset • temporal proximity • behavioral sequence • independent sources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Rounded Rectangle 43"/>
          <p:cNvSpPr/>
          <p:nvPr/>
        </p:nvSpPr>
        <p:spPr>
          <a:xfrm>
            <a:off x="6583680" y="4498920"/>
            <a:ext cx="4800240" cy="1279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E0E0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Rectangle 44"/>
          <p:cNvSpPr/>
          <p:nvPr/>
        </p:nvSpPr>
        <p:spPr>
          <a:xfrm>
            <a:off x="6583680" y="4498920"/>
            <a:ext cx="50040" cy="12798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TextBox 45"/>
          <p:cNvSpPr/>
          <p:nvPr/>
        </p:nvSpPr>
        <p:spPr>
          <a:xfrm>
            <a:off x="6784920" y="4663440"/>
            <a:ext cx="4434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Output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46"/>
          <p:cNvSpPr/>
          <p:nvPr/>
        </p:nvSpPr>
        <p:spPr>
          <a:xfrm>
            <a:off x="6784920" y="5102280"/>
            <a:ext cx="44344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MITRE technique • confidence • priority • evidence • alert/incident relationship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47"/>
          <p:cNvSpPr/>
          <p:nvPr/>
        </p:nvSpPr>
        <p:spPr>
          <a:xfrm>
            <a:off x="10287000" y="6473880"/>
            <a:ext cx="1188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SENTINEL-X  /  4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Box 1"/>
          <p:cNvSpPr/>
          <p:nvPr/>
        </p:nvSpPr>
        <p:spPr>
          <a:xfrm>
            <a:off x="594360" y="39312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05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2"/>
          <p:cNvSpPr/>
          <p:nvPr/>
        </p:nvSpPr>
        <p:spPr>
          <a:xfrm>
            <a:off x="1051560" y="320040"/>
            <a:ext cx="9875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90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Demo / Key Feature</a:t>
            </a:r>
            <a:endParaRPr lang="en-GB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3"/>
          <p:cNvSpPr/>
          <p:nvPr/>
        </p:nvSpPr>
        <p:spPr>
          <a:xfrm>
            <a:off x="1069920" y="86868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Multi-stage attack: from live events to one explainable incident.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Rectangle 4"/>
          <p:cNvSpPr/>
          <p:nvPr/>
        </p:nvSpPr>
        <p:spPr>
          <a:xfrm>
            <a:off x="594360" y="1234440"/>
            <a:ext cx="10972440" cy="10440"/>
          </a:xfrm>
          <a:prstGeom prst="rect">
            <a:avLst/>
          </a:prstGeom>
          <a:solidFill>
            <a:srgbClr val="E0E0E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08" name="Picture 5" descr="beb34edb-488b-46ea-a033-b736b62429dd.png"/>
          <p:cNvPicPr/>
          <p:nvPr/>
        </p:nvPicPr>
        <p:blipFill>
          <a:blip r:embed="rId1"/>
          <a:stretch/>
        </p:blipFill>
        <p:spPr>
          <a:xfrm>
            <a:off x="594360" y="2041200"/>
            <a:ext cx="5577480" cy="322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9" name="TextBox 6"/>
          <p:cNvSpPr/>
          <p:nvPr/>
        </p:nvSpPr>
        <p:spPr>
          <a:xfrm>
            <a:off x="6446520" y="144468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LIVE DEMO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Rounded Rectangle 7"/>
          <p:cNvSpPr/>
          <p:nvPr/>
        </p:nvSpPr>
        <p:spPr>
          <a:xfrm>
            <a:off x="6446520" y="1828800"/>
            <a:ext cx="383760" cy="32868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0160">
            <a:solidFill>
              <a:srgbClr val="EFF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8"/>
          <p:cNvSpPr/>
          <p:nvPr/>
        </p:nvSpPr>
        <p:spPr>
          <a:xfrm>
            <a:off x="6446520" y="1842480"/>
            <a:ext cx="383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1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9"/>
          <p:cNvSpPr/>
          <p:nvPr/>
        </p:nvSpPr>
        <p:spPr>
          <a:xfrm>
            <a:off x="6995160" y="1837800"/>
            <a:ext cx="1234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Select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10"/>
          <p:cNvSpPr/>
          <p:nvPr/>
        </p:nvSpPr>
        <p:spPr>
          <a:xfrm>
            <a:off x="8229600" y="1837800"/>
            <a:ext cx="2788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Multi-Stage Attack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Rounded Rectangle 11"/>
          <p:cNvSpPr/>
          <p:nvPr/>
        </p:nvSpPr>
        <p:spPr>
          <a:xfrm>
            <a:off x="6446520" y="2450520"/>
            <a:ext cx="383760" cy="32868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0160">
            <a:solidFill>
              <a:srgbClr val="EFF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TextBox 12"/>
          <p:cNvSpPr/>
          <p:nvPr/>
        </p:nvSpPr>
        <p:spPr>
          <a:xfrm>
            <a:off x="6446520" y="2464200"/>
            <a:ext cx="383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2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13"/>
          <p:cNvSpPr/>
          <p:nvPr/>
        </p:nvSpPr>
        <p:spPr>
          <a:xfrm>
            <a:off x="6995160" y="2459880"/>
            <a:ext cx="1234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Generate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14"/>
          <p:cNvSpPr/>
          <p:nvPr/>
        </p:nvSpPr>
        <p:spPr>
          <a:xfrm>
            <a:off x="8229600" y="2459880"/>
            <a:ext cx="2788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Events stream in continuously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Rounded Rectangle 15"/>
          <p:cNvSpPr/>
          <p:nvPr/>
        </p:nvSpPr>
        <p:spPr>
          <a:xfrm>
            <a:off x="6446520" y="3072240"/>
            <a:ext cx="383760" cy="32868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0160">
            <a:solidFill>
              <a:srgbClr val="EFF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TextBox 16"/>
          <p:cNvSpPr/>
          <p:nvPr/>
        </p:nvSpPr>
        <p:spPr>
          <a:xfrm>
            <a:off x="6446520" y="3086280"/>
            <a:ext cx="383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3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17"/>
          <p:cNvSpPr/>
          <p:nvPr/>
        </p:nvSpPr>
        <p:spPr>
          <a:xfrm>
            <a:off x="6995160" y="3081600"/>
            <a:ext cx="1234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Correlate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18"/>
          <p:cNvSpPr/>
          <p:nvPr/>
        </p:nvSpPr>
        <p:spPr>
          <a:xfrm>
            <a:off x="8229600" y="3081600"/>
            <a:ext cx="2788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Related activity is connected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Rounded Rectangle 19"/>
          <p:cNvSpPr/>
          <p:nvPr/>
        </p:nvSpPr>
        <p:spPr>
          <a:xfrm>
            <a:off x="6446520" y="3694320"/>
            <a:ext cx="383760" cy="32868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0160">
            <a:solidFill>
              <a:srgbClr val="EFF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TextBox 20"/>
          <p:cNvSpPr/>
          <p:nvPr/>
        </p:nvSpPr>
        <p:spPr>
          <a:xfrm>
            <a:off x="6446520" y="3708000"/>
            <a:ext cx="383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4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21"/>
          <p:cNvSpPr/>
          <p:nvPr/>
        </p:nvSpPr>
        <p:spPr>
          <a:xfrm>
            <a:off x="6995160" y="3703320"/>
            <a:ext cx="1234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Enrich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22"/>
          <p:cNvSpPr/>
          <p:nvPr/>
        </p:nvSpPr>
        <p:spPr>
          <a:xfrm>
            <a:off x="8229600" y="3703320"/>
            <a:ext cx="2788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MITRE techniques are mapped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Rounded Rectangle 23"/>
          <p:cNvSpPr/>
          <p:nvPr/>
        </p:nvSpPr>
        <p:spPr>
          <a:xfrm>
            <a:off x="6446520" y="4316040"/>
            <a:ext cx="383760" cy="32868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0160">
            <a:solidFill>
              <a:srgbClr val="EFF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Box 24"/>
          <p:cNvSpPr/>
          <p:nvPr/>
        </p:nvSpPr>
        <p:spPr>
          <a:xfrm>
            <a:off x="6446520" y="4329720"/>
            <a:ext cx="383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5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25"/>
          <p:cNvSpPr/>
          <p:nvPr/>
        </p:nvSpPr>
        <p:spPr>
          <a:xfrm>
            <a:off x="6995160" y="4325040"/>
            <a:ext cx="1234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Prioritize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26"/>
          <p:cNvSpPr/>
          <p:nvPr/>
        </p:nvSpPr>
        <p:spPr>
          <a:xfrm>
            <a:off x="8229600" y="4325040"/>
            <a:ext cx="2788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Sentinel-X explains the risk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Rounded Rectangle 27"/>
          <p:cNvSpPr/>
          <p:nvPr/>
        </p:nvSpPr>
        <p:spPr>
          <a:xfrm>
            <a:off x="6446520" y="4937760"/>
            <a:ext cx="383760" cy="32868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0160">
            <a:solidFill>
              <a:srgbClr val="EFF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TextBox 28"/>
          <p:cNvSpPr/>
          <p:nvPr/>
        </p:nvSpPr>
        <p:spPr>
          <a:xfrm>
            <a:off x="6446520" y="4951440"/>
            <a:ext cx="383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6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29"/>
          <p:cNvSpPr/>
          <p:nvPr/>
        </p:nvSpPr>
        <p:spPr>
          <a:xfrm>
            <a:off x="6995160" y="4946760"/>
            <a:ext cx="1234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Incident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30"/>
          <p:cNvSpPr/>
          <p:nvPr/>
        </p:nvSpPr>
        <p:spPr>
          <a:xfrm>
            <a:off x="8229600" y="4946760"/>
            <a:ext cx="2788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Alerts become an attack narrative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Rounded Rectangle 31"/>
          <p:cNvSpPr/>
          <p:nvPr/>
        </p:nvSpPr>
        <p:spPr>
          <a:xfrm>
            <a:off x="6446520" y="5577840"/>
            <a:ext cx="4571640" cy="52992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0160">
            <a:solidFill>
              <a:srgbClr val="FED7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5" name="TextBox 32"/>
          <p:cNvSpPr/>
          <p:nvPr/>
        </p:nvSpPr>
        <p:spPr>
          <a:xfrm>
            <a:off x="6583680" y="5724000"/>
            <a:ext cx="42973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EA580C"/>
                </a:solidFill>
                <a:effectLst/>
                <a:uFillTx/>
                <a:latin typeface="Aptos"/>
              </a:rPr>
              <a:t>BEST DEMO: Multi-Stage Attack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33"/>
          <p:cNvSpPr/>
          <p:nvPr/>
        </p:nvSpPr>
        <p:spPr>
          <a:xfrm>
            <a:off x="10287000" y="6473880"/>
            <a:ext cx="1188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SENTINEL-X  /  5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Box 1"/>
          <p:cNvSpPr/>
          <p:nvPr/>
        </p:nvSpPr>
        <p:spPr>
          <a:xfrm>
            <a:off x="594360" y="39312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06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2"/>
          <p:cNvSpPr/>
          <p:nvPr/>
        </p:nvSpPr>
        <p:spPr>
          <a:xfrm>
            <a:off x="1051560" y="320040"/>
            <a:ext cx="9875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90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IBM Technologies</a:t>
            </a:r>
            <a:endParaRPr lang="en-GB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3"/>
          <p:cNvSpPr/>
          <p:nvPr/>
        </p:nvSpPr>
        <p:spPr>
          <a:xfrm>
            <a:off x="1069920" y="86868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How IBM technology fits into the Sentinel-X workflow.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Rectangle 4"/>
          <p:cNvSpPr/>
          <p:nvPr/>
        </p:nvSpPr>
        <p:spPr>
          <a:xfrm>
            <a:off x="594360" y="1234440"/>
            <a:ext cx="10972440" cy="10440"/>
          </a:xfrm>
          <a:prstGeom prst="rect">
            <a:avLst/>
          </a:prstGeom>
          <a:solidFill>
            <a:srgbClr val="E0E0E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1" name="Rounded Rectangle 5"/>
          <p:cNvSpPr/>
          <p:nvPr/>
        </p:nvSpPr>
        <p:spPr>
          <a:xfrm>
            <a:off x="685800" y="1508760"/>
            <a:ext cx="521172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E0E0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Rectangle 6"/>
          <p:cNvSpPr/>
          <p:nvPr/>
        </p:nvSpPr>
        <p:spPr>
          <a:xfrm>
            <a:off x="685800" y="1508760"/>
            <a:ext cx="50040" cy="182844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TextBox 7"/>
          <p:cNvSpPr/>
          <p:nvPr/>
        </p:nvSpPr>
        <p:spPr>
          <a:xfrm>
            <a:off x="887040" y="167328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IBM Bob + MCP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8"/>
          <p:cNvSpPr/>
          <p:nvPr/>
        </p:nvSpPr>
        <p:spPr>
          <a:xfrm>
            <a:off x="887040" y="2112120"/>
            <a:ext cx="484596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Used as the integration / orchestration layer for connecting heterogeneous threat feeds and supporting normalization into a common workflow.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Rounded Rectangle 9"/>
          <p:cNvSpPr/>
          <p:nvPr/>
        </p:nvSpPr>
        <p:spPr>
          <a:xfrm>
            <a:off x="6263640" y="1508760"/>
            <a:ext cx="521172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E0E0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6" name="Rectangle 10"/>
          <p:cNvSpPr/>
          <p:nvPr/>
        </p:nvSpPr>
        <p:spPr>
          <a:xfrm>
            <a:off x="6263640" y="1508760"/>
            <a:ext cx="50040" cy="182844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7" name="TextBox 11"/>
          <p:cNvSpPr/>
          <p:nvPr/>
        </p:nvSpPr>
        <p:spPr>
          <a:xfrm>
            <a:off x="6464880" y="167328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MCP-based tool connectivity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12"/>
          <p:cNvSpPr/>
          <p:nvPr/>
        </p:nvSpPr>
        <p:spPr>
          <a:xfrm>
            <a:off x="6464880" y="2112120"/>
            <a:ext cx="484596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Provides a structured way to connect external data/tools to the assistant workflow instead of building one-off integrations for every source.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Rounded Rectangle 13"/>
          <p:cNvSpPr/>
          <p:nvPr/>
        </p:nvSpPr>
        <p:spPr>
          <a:xfrm>
            <a:off x="685800" y="3657600"/>
            <a:ext cx="521172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E0E0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0" name="Rectangle 14"/>
          <p:cNvSpPr/>
          <p:nvPr/>
        </p:nvSpPr>
        <p:spPr>
          <a:xfrm>
            <a:off x="685800" y="3657600"/>
            <a:ext cx="50040" cy="182844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1" name="TextBox 15"/>
          <p:cNvSpPr/>
          <p:nvPr/>
        </p:nvSpPr>
        <p:spPr>
          <a:xfrm>
            <a:off x="887040" y="382212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Threat-feed normalization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16"/>
          <p:cNvSpPr/>
          <p:nvPr/>
        </p:nvSpPr>
        <p:spPr>
          <a:xfrm>
            <a:off x="887040" y="4260960"/>
            <a:ext cx="484596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The integration layer supports the project goal of bringing SIEM, space and sensor telemetry into a consistent processing pipeline.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Rounded Rectangle 17"/>
          <p:cNvSpPr/>
          <p:nvPr/>
        </p:nvSpPr>
        <p:spPr>
          <a:xfrm>
            <a:off x="6263640" y="3657600"/>
            <a:ext cx="521172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E0E0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4" name="Rectangle 18"/>
          <p:cNvSpPr/>
          <p:nvPr/>
        </p:nvSpPr>
        <p:spPr>
          <a:xfrm>
            <a:off x="6263640" y="3657600"/>
            <a:ext cx="50040" cy="182844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5" name="TextBox 19"/>
          <p:cNvSpPr/>
          <p:nvPr/>
        </p:nvSpPr>
        <p:spPr>
          <a:xfrm>
            <a:off x="6464880" y="382212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Where it sits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20"/>
          <p:cNvSpPr/>
          <p:nvPr/>
        </p:nvSpPr>
        <p:spPr>
          <a:xfrm>
            <a:off x="6464880" y="4260960"/>
            <a:ext cx="484596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IBM/MCP integration is an enabling layer around ingestion and normalization; correlation, MITRE enrichment and Sentinel-X prioritisation remain the core application logic.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Rounded Rectangle 21"/>
          <p:cNvSpPr/>
          <p:nvPr/>
        </p:nvSpPr>
        <p:spPr>
          <a:xfrm>
            <a:off x="2057400" y="5806440"/>
            <a:ext cx="8092080" cy="43848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0160">
            <a:solidFill>
              <a:srgbClr val="BFDB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8" name="TextBox 22"/>
          <p:cNvSpPr/>
          <p:nvPr/>
        </p:nvSpPr>
        <p:spPr>
          <a:xfrm>
            <a:off x="2240280" y="5906880"/>
            <a:ext cx="7726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IMPORTANT: describe only the IBM capabilities actually demonstrated in the final build.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23"/>
          <p:cNvSpPr/>
          <p:nvPr/>
        </p:nvSpPr>
        <p:spPr>
          <a:xfrm>
            <a:off x="10287000" y="6473880"/>
            <a:ext cx="1188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SENTINEL-X  /  6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extBox 1"/>
          <p:cNvSpPr/>
          <p:nvPr/>
        </p:nvSpPr>
        <p:spPr>
          <a:xfrm>
            <a:off x="594360" y="39312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07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2"/>
          <p:cNvSpPr/>
          <p:nvPr/>
        </p:nvSpPr>
        <p:spPr>
          <a:xfrm>
            <a:off x="1051560" y="320040"/>
            <a:ext cx="9875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90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Results / Impact</a:t>
            </a:r>
            <a:endParaRPr lang="en-GB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Box 3"/>
          <p:cNvSpPr/>
          <p:nvPr/>
        </p:nvSpPr>
        <p:spPr>
          <a:xfrm>
            <a:off x="1069920" y="86868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What success looks like in the Sentinel-X MVP.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Rectangle 4"/>
          <p:cNvSpPr/>
          <p:nvPr/>
        </p:nvSpPr>
        <p:spPr>
          <a:xfrm>
            <a:off x="594360" y="1234440"/>
            <a:ext cx="10972440" cy="10440"/>
          </a:xfrm>
          <a:prstGeom prst="rect">
            <a:avLst/>
          </a:prstGeom>
          <a:solidFill>
            <a:srgbClr val="E0E0E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4" name="Rounded Rectangle 5"/>
          <p:cNvSpPr/>
          <p:nvPr/>
        </p:nvSpPr>
        <p:spPr>
          <a:xfrm>
            <a:off x="685800" y="1463040"/>
            <a:ext cx="3428640" cy="187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E0E0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5" name="Rectangle 6"/>
          <p:cNvSpPr/>
          <p:nvPr/>
        </p:nvSpPr>
        <p:spPr>
          <a:xfrm>
            <a:off x="685800" y="1463040"/>
            <a:ext cx="50040" cy="18741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6" name="TextBox 7"/>
          <p:cNvSpPr/>
          <p:nvPr/>
        </p:nvSpPr>
        <p:spPr>
          <a:xfrm>
            <a:off x="887040" y="1627560"/>
            <a:ext cx="3062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01  Reduce triage noise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8"/>
          <p:cNvSpPr/>
          <p:nvPr/>
        </p:nvSpPr>
        <p:spPr>
          <a:xfrm>
            <a:off x="887040" y="2066400"/>
            <a:ext cx="3062880" cy="11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Many related events can become fewer, higher-value alerts and incidents.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Rounded Rectangle 9"/>
          <p:cNvSpPr/>
          <p:nvPr/>
        </p:nvSpPr>
        <p:spPr>
          <a:xfrm>
            <a:off x="4370760" y="1463040"/>
            <a:ext cx="3428640" cy="187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E0E0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9" name="Rectangle 10"/>
          <p:cNvSpPr/>
          <p:nvPr/>
        </p:nvSpPr>
        <p:spPr>
          <a:xfrm>
            <a:off x="4370760" y="1463040"/>
            <a:ext cx="50040" cy="187416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0" name="TextBox 11"/>
          <p:cNvSpPr/>
          <p:nvPr/>
        </p:nvSpPr>
        <p:spPr>
          <a:xfrm>
            <a:off x="4572000" y="1627560"/>
            <a:ext cx="3062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02  Explain priority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Box 12"/>
          <p:cNvSpPr/>
          <p:nvPr/>
        </p:nvSpPr>
        <p:spPr>
          <a:xfrm>
            <a:off x="4572000" y="2066400"/>
            <a:ext cx="3062880" cy="11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Analysts see source severity, confidence, correlation, asset criticality and threat context.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Rounded Rectangle 13"/>
          <p:cNvSpPr/>
          <p:nvPr/>
        </p:nvSpPr>
        <p:spPr>
          <a:xfrm>
            <a:off x="8055720" y="1463040"/>
            <a:ext cx="3428640" cy="187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E0E0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3" name="Rectangle 14"/>
          <p:cNvSpPr/>
          <p:nvPr/>
        </p:nvSpPr>
        <p:spPr>
          <a:xfrm>
            <a:off x="8055720" y="1463040"/>
            <a:ext cx="50040" cy="187416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4" name="TextBox 15"/>
          <p:cNvSpPr/>
          <p:nvPr/>
        </p:nvSpPr>
        <p:spPr>
          <a:xfrm>
            <a:off x="8256960" y="1627560"/>
            <a:ext cx="3062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03  Cross-domain visibility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Box 16"/>
          <p:cNvSpPr/>
          <p:nvPr/>
        </p:nvSpPr>
        <p:spPr>
          <a:xfrm>
            <a:off x="8256960" y="2066400"/>
            <a:ext cx="3062880" cy="11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SIEM, sensor and space telemetry can be examined in one decision workflow.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Rounded Rectangle 17"/>
          <p:cNvSpPr/>
          <p:nvPr/>
        </p:nvSpPr>
        <p:spPr>
          <a:xfrm>
            <a:off x="685800" y="3749040"/>
            <a:ext cx="10798560" cy="1691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E0E0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7" name="TextBox 18"/>
          <p:cNvSpPr/>
          <p:nvPr/>
        </p:nvSpPr>
        <p:spPr>
          <a:xfrm>
            <a:off x="960120" y="402336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MVP SUCCESS METRICS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19"/>
          <p:cNvSpPr/>
          <p:nvPr/>
        </p:nvSpPr>
        <p:spPr>
          <a:xfrm>
            <a:off x="960120" y="4480560"/>
            <a:ext cx="2148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Live events</a:t>
            </a:r>
            <a:endParaRPr lang="en-GB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20"/>
          <p:cNvSpPr/>
          <p:nvPr/>
        </p:nvSpPr>
        <p:spPr>
          <a:xfrm>
            <a:off x="960120" y="4818960"/>
            <a:ext cx="2148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Continuous generation and processing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21"/>
          <p:cNvSpPr/>
          <p:nvPr/>
        </p:nvSpPr>
        <p:spPr>
          <a:xfrm>
            <a:off x="3566160" y="4480560"/>
            <a:ext cx="2148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Alert latency</a:t>
            </a:r>
            <a:endParaRPr lang="en-GB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22"/>
          <p:cNvSpPr/>
          <p:nvPr/>
        </p:nvSpPr>
        <p:spPr>
          <a:xfrm>
            <a:off x="3566160" y="4818960"/>
            <a:ext cx="2148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Time from correlated evidence to alert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Box 23"/>
          <p:cNvSpPr/>
          <p:nvPr/>
        </p:nvSpPr>
        <p:spPr>
          <a:xfrm>
            <a:off x="6172200" y="4480560"/>
            <a:ext cx="2148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Correlation</a:t>
            </a:r>
            <a:endParaRPr lang="en-GB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24"/>
          <p:cNvSpPr/>
          <p:nvPr/>
        </p:nvSpPr>
        <p:spPr>
          <a:xfrm>
            <a:off x="6172200" y="4818960"/>
            <a:ext cx="2148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Related events grouped into incidents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25"/>
          <p:cNvSpPr/>
          <p:nvPr/>
        </p:nvSpPr>
        <p:spPr>
          <a:xfrm>
            <a:off x="8778240" y="4480560"/>
            <a:ext cx="2148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Explainability</a:t>
            </a:r>
            <a:endParaRPr lang="en-GB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26"/>
          <p:cNvSpPr/>
          <p:nvPr/>
        </p:nvSpPr>
        <p:spPr>
          <a:xfrm>
            <a:off x="8778240" y="4818960"/>
            <a:ext cx="2148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Every priority has visible supporting factors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Rounded Rectangle 27"/>
          <p:cNvSpPr/>
          <p:nvPr/>
        </p:nvSpPr>
        <p:spPr>
          <a:xfrm>
            <a:off x="1828800" y="5806440"/>
            <a:ext cx="8549280" cy="475200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10160">
            <a:solidFill>
              <a:srgbClr val="BBF7D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7" name="TextBox 28"/>
          <p:cNvSpPr/>
          <p:nvPr/>
        </p:nvSpPr>
        <p:spPr>
          <a:xfrm>
            <a:off x="2011680" y="5925240"/>
            <a:ext cx="8183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16A34A"/>
                </a:solidFill>
                <a:effectLst/>
                <a:uFillTx/>
                <a:latin typeface="Aptos"/>
              </a:rPr>
              <a:t>Success = faster understanding of what happened, why it matters, and what to do next.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29"/>
          <p:cNvSpPr/>
          <p:nvPr/>
        </p:nvSpPr>
        <p:spPr>
          <a:xfrm>
            <a:off x="10287000" y="6473880"/>
            <a:ext cx="1188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SENTINEL-X  /  7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TextBox 1"/>
          <p:cNvSpPr/>
          <p:nvPr/>
        </p:nvSpPr>
        <p:spPr>
          <a:xfrm>
            <a:off x="594360" y="39312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08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Box 2"/>
          <p:cNvSpPr/>
          <p:nvPr/>
        </p:nvSpPr>
        <p:spPr>
          <a:xfrm>
            <a:off x="1051560" y="320040"/>
            <a:ext cx="9875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90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Team</a:t>
            </a:r>
            <a:endParaRPr lang="en-GB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3"/>
          <p:cNvSpPr/>
          <p:nvPr/>
        </p:nvSpPr>
        <p:spPr>
          <a:xfrm>
            <a:off x="1069920" y="86868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Roles and ownership — replace the placeholders with your final team details.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Rectangle 4"/>
          <p:cNvSpPr/>
          <p:nvPr/>
        </p:nvSpPr>
        <p:spPr>
          <a:xfrm>
            <a:off x="594360" y="1234440"/>
            <a:ext cx="10972440" cy="10440"/>
          </a:xfrm>
          <a:prstGeom prst="rect">
            <a:avLst/>
          </a:prstGeom>
          <a:solidFill>
            <a:srgbClr val="E0E0E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3" name="Rounded Rectangle 5"/>
          <p:cNvSpPr/>
          <p:nvPr/>
        </p:nvSpPr>
        <p:spPr>
          <a:xfrm>
            <a:off x="685800" y="1645920"/>
            <a:ext cx="2514240" cy="2285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E0E0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4" name="Rounded Rectangle 6"/>
          <p:cNvSpPr/>
          <p:nvPr/>
        </p:nvSpPr>
        <p:spPr>
          <a:xfrm>
            <a:off x="914400" y="1920240"/>
            <a:ext cx="2057040" cy="32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5" name="TextBox 7"/>
          <p:cNvSpPr/>
          <p:nvPr/>
        </p:nvSpPr>
        <p:spPr>
          <a:xfrm>
            <a:off x="914400" y="1933920"/>
            <a:ext cx="2057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TEAM MEMBER 1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8"/>
          <p:cNvSpPr/>
          <p:nvPr/>
        </p:nvSpPr>
        <p:spPr>
          <a:xfrm>
            <a:off x="914400" y="2487240"/>
            <a:ext cx="20570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Maharshi Trivedi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Box 9"/>
          <p:cNvSpPr/>
          <p:nvPr/>
        </p:nvSpPr>
        <p:spPr>
          <a:xfrm>
            <a:off x="914400" y="3035880"/>
            <a:ext cx="205704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Researcher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Rounded Rectangle 10"/>
          <p:cNvSpPr/>
          <p:nvPr/>
        </p:nvSpPr>
        <p:spPr>
          <a:xfrm>
            <a:off x="3474720" y="1645920"/>
            <a:ext cx="2514240" cy="2285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E0E0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9" name="Rounded Rectangle 11"/>
          <p:cNvSpPr/>
          <p:nvPr/>
        </p:nvSpPr>
        <p:spPr>
          <a:xfrm>
            <a:off x="3703320" y="1920240"/>
            <a:ext cx="2057040" cy="32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0" name="TextBox 12"/>
          <p:cNvSpPr/>
          <p:nvPr/>
        </p:nvSpPr>
        <p:spPr>
          <a:xfrm>
            <a:off x="3703320" y="1933920"/>
            <a:ext cx="2057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7C3AED"/>
                </a:solidFill>
                <a:effectLst/>
                <a:uFillTx/>
                <a:latin typeface="Aptos"/>
              </a:rPr>
              <a:t>TEAM MEMBER 2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Box 13"/>
          <p:cNvSpPr/>
          <p:nvPr/>
        </p:nvSpPr>
        <p:spPr>
          <a:xfrm>
            <a:off x="3703320" y="2487240"/>
            <a:ext cx="20570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Chaitany Thakar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Box 14"/>
          <p:cNvSpPr/>
          <p:nvPr/>
        </p:nvSpPr>
        <p:spPr>
          <a:xfrm>
            <a:off x="3703320" y="3035880"/>
            <a:ext cx="205704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ML Engineer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Rounded Rectangle 15"/>
          <p:cNvSpPr/>
          <p:nvPr/>
        </p:nvSpPr>
        <p:spPr>
          <a:xfrm>
            <a:off x="6263640" y="1645920"/>
            <a:ext cx="2514240" cy="2285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E0E0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4" name="Rounded Rectangle 16"/>
          <p:cNvSpPr/>
          <p:nvPr/>
        </p:nvSpPr>
        <p:spPr>
          <a:xfrm>
            <a:off x="6492240" y="1920240"/>
            <a:ext cx="2057040" cy="32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5" name="TextBox 17"/>
          <p:cNvSpPr/>
          <p:nvPr/>
        </p:nvSpPr>
        <p:spPr>
          <a:xfrm>
            <a:off x="6492240" y="1933920"/>
            <a:ext cx="2057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6A34A"/>
                </a:solidFill>
                <a:effectLst/>
                <a:uFillTx/>
                <a:latin typeface="Aptos"/>
              </a:rPr>
              <a:t>TEAM MEMBER 3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18"/>
          <p:cNvSpPr/>
          <p:nvPr/>
        </p:nvSpPr>
        <p:spPr>
          <a:xfrm>
            <a:off x="6492240" y="2487240"/>
            <a:ext cx="20570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Tirth Bhatt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19"/>
          <p:cNvSpPr/>
          <p:nvPr/>
        </p:nvSpPr>
        <p:spPr>
          <a:xfrm>
            <a:off x="6492240" y="3035880"/>
            <a:ext cx="205704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Backend Engineer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Rounded Rectangle 20"/>
          <p:cNvSpPr/>
          <p:nvPr/>
        </p:nvSpPr>
        <p:spPr>
          <a:xfrm>
            <a:off x="9052560" y="1645920"/>
            <a:ext cx="2514240" cy="2285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E0E0E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9" name="Rounded Rectangle 21"/>
          <p:cNvSpPr/>
          <p:nvPr/>
        </p:nvSpPr>
        <p:spPr>
          <a:xfrm>
            <a:off x="9281160" y="1920240"/>
            <a:ext cx="2057040" cy="32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0" name="TextBox 22"/>
          <p:cNvSpPr/>
          <p:nvPr/>
        </p:nvSpPr>
        <p:spPr>
          <a:xfrm>
            <a:off x="9281160" y="1933920"/>
            <a:ext cx="2057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A580C"/>
                </a:solidFill>
                <a:effectLst/>
                <a:uFillTx/>
                <a:latin typeface="Aptos"/>
              </a:rPr>
              <a:t>TEAM MEMBER 4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Box 23"/>
          <p:cNvSpPr/>
          <p:nvPr/>
        </p:nvSpPr>
        <p:spPr>
          <a:xfrm>
            <a:off x="9281160" y="2487240"/>
            <a:ext cx="20570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Visha Kardani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Box 24"/>
          <p:cNvSpPr/>
          <p:nvPr/>
        </p:nvSpPr>
        <p:spPr>
          <a:xfrm>
            <a:off x="9281160" y="3035880"/>
            <a:ext cx="205704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Frontend Engineer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Rounded Rectangle 25"/>
          <p:cNvSpPr/>
          <p:nvPr/>
        </p:nvSpPr>
        <p:spPr>
          <a:xfrm>
            <a:off x="914400" y="4526280"/>
            <a:ext cx="10332360" cy="100548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0160">
            <a:solidFill>
              <a:srgbClr val="BFDB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4" name="TextBox 26"/>
          <p:cNvSpPr/>
          <p:nvPr/>
        </p:nvSpPr>
        <p:spPr>
          <a:xfrm>
            <a:off x="1188720" y="477324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TEAM CONTRIBUTION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Box 27"/>
          <p:cNvSpPr/>
          <p:nvPr/>
        </p:nvSpPr>
        <p:spPr>
          <a:xfrm>
            <a:off x="2971800" y="4690800"/>
            <a:ext cx="7817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Data &amp; research  •  Correlation &amp; backend  •  MITRE / threat intelligence  •  Frontend &amp; demo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Box 28"/>
          <p:cNvSpPr/>
          <p:nvPr/>
        </p:nvSpPr>
        <p:spPr>
          <a:xfrm>
            <a:off x="685800" y="5989320"/>
            <a:ext cx="10835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71717"/>
                </a:solidFill>
                <a:effectLst/>
                <a:uFillTx/>
                <a:latin typeface="Aptos"/>
              </a:rPr>
              <a:t>Thank you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Box 29"/>
          <p:cNvSpPr/>
          <p:nvPr/>
        </p:nvSpPr>
        <p:spPr>
          <a:xfrm>
            <a:off x="10287000" y="6473880"/>
            <a:ext cx="1188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25252"/>
                </a:solidFill>
                <a:effectLst/>
                <a:uFillTx/>
                <a:latin typeface="Aptos"/>
              </a:rPr>
              <a:t>SENTINEL-X  /  8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LibreOffice/26.2.6.3$Linux_X86_64 LibreOffice_project/620$Build-3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en-GB</dc:language>
  <cp:lastModifiedBy/>
  <dcterms:modified xsi:type="dcterms:W3CDTF">2026-09-15T23:48:52Z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